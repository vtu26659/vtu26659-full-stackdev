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4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2" r:id="rId15"/>
    <p:sldId id="271" r:id="rId16"/>
    <p:sldId id="273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1"/>
      <p:bold r:id="rId22"/>
      <p:italic r:id="rId23"/>
      <p:boldItalic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Gotham" panose="020B0604020202020204" charset="0"/>
      <p:regular r:id="rId29"/>
      <p:bold r:id="rId30"/>
      <p:italic r:id="rId31"/>
      <p:boldItalic r:id="rId32"/>
    </p:embeddedFont>
    <p:embeddedFont>
      <p:font typeface="Gotham Bold Italics" panose="020B0604020202020204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22" autoAdjust="0"/>
  </p:normalViewPr>
  <p:slideViewPr>
    <p:cSldViewPr>
      <p:cViewPr varScale="1">
        <p:scale>
          <a:sx n="52" d="100"/>
          <a:sy n="52" d="100"/>
        </p:scale>
        <p:origin x="29" y="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5B5DE-110A-4B6A-B165-F11B4969A0A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504C7-667A-4B0B-A696-DFD32734B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027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504C7-667A-4B0B-A696-DFD32734B62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32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251919" y="5840249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Pantangi Gowtham Siva Santhosh– VTU26659 – 23UECS0429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Dr.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S.Hemamalini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– Assistant Professor(Senior Grade)-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SDG No – SDG 8: Decent Work and Economic Growth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b="1" dirty="0" err="1"/>
              <a:t>J</a:t>
            </a:r>
            <a:r>
              <a:rPr lang="en-US" sz="2800" dirty="0" err="1"/>
              <a:t>obPortal</a:t>
            </a:r>
            <a:r>
              <a:rPr lang="en-US" sz="2800" dirty="0"/>
              <a:t> is a web-based recruitment and placement management system designed to simplify and automate the hiring process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The system connects students, employers, and administrators on a single centralized platform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It provides role-based access where students can apply for jobs, employers can post vacancies, and admins manage the overall system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Built using Spring Boot, the platform ensures secure backend processing and efficient data handling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Integrated email/OTP services and chatbot support improve communication and user experience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The system minimizes manual work, increases transparency, and accelerates recruitment workflows.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This project represents a scalable and practical solution for modern campus and organizational hiring needs</a:t>
            </a:r>
            <a:endParaRPr lang="en-IN" sz="2800" dirty="0"/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B41B-BB86-7BE1-0E99-582D8E22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>
            <a:extLst>
              <a:ext uri="{FF2B5EF4-FFF2-40B4-BE49-F238E27FC236}">
                <a16:creationId xmlns:a16="http://schemas.microsoft.com/office/drawing/2014/main" id="{B129292E-5B2F-7833-FEBA-43844D37E9BB}"/>
              </a:ext>
            </a:extLst>
          </p:cNvPr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5026313-4AEE-9A88-C17F-C8DE1BB64CD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6C8EA23-A2B5-66E3-0D9F-6832226537A6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D80D30B-E59F-4C06-4D34-0691B4F85255}"/>
              </a:ext>
            </a:extLst>
          </p:cNvPr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EB88966-B521-16F6-E2E1-5150F702820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5EBD86C-BBD7-A83B-FAA9-2EDF55FD1B7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E8BEB7E3-7D40-EDAA-A04C-C6E05883D55B}"/>
              </a:ext>
            </a:extLst>
          </p:cNvPr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B42B7C87-9636-18F4-1E64-BA38ABC31B1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F1FA987D-C184-73CB-718E-ECFE51C1D55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26A9222-6139-7703-511F-CBEE5BD9B5BF}"/>
              </a:ext>
            </a:extLst>
          </p:cNvPr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CC37166-1CBD-0AFF-314D-3A37BC32E60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CECD9F66-44AC-515C-5713-235497B3342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D456AB35-85F4-DC5D-DCFB-E874C095C925}"/>
              </a:ext>
            </a:extLst>
          </p:cNvPr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AC2F82E-95DD-54E1-1E11-852E8B846FA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7329BC13-D77A-4A53-7288-F63536522FD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A85A4DC0-F0E1-2349-6555-38CF39737C3B}"/>
              </a:ext>
            </a:extLst>
          </p:cNvPr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668A7562-0640-A367-BCF1-6A5418E17D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CD25166A-0D1B-5DD9-B4EE-14854377DF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C102DDDA-0E02-ACF2-9C4E-88F7069D11B3}"/>
              </a:ext>
            </a:extLst>
          </p:cNvPr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E331B3AE-959A-4D05-4E27-D127492B90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97009DD0-9808-23A4-E1C3-80660F9C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8CD56C1D-35D6-EA14-2C1F-FB1D12590501}"/>
              </a:ext>
            </a:extLst>
          </p:cNvPr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2CFA7A1B-30ED-096F-09F9-7FA52784B02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05ED8265-8131-8C58-DFE1-B1198A16FC7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5F4285FA-1179-48C2-C20D-01CCF0548539}"/>
              </a:ext>
            </a:extLst>
          </p:cNvPr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EBD9DBF8-787D-91C0-1D3E-0CE4E03B79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13680A36-5146-23D0-B73B-5D8EF4DF23C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08B46CE-5C2F-FFC5-0BC0-303D6D7C245C}"/>
              </a:ext>
            </a:extLst>
          </p:cNvPr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DDB42-F247-5BA2-7FB0-49340E69093C}"/>
              </a:ext>
            </a:extLst>
          </p:cNvPr>
          <p:cNvSpPr txBox="1"/>
          <p:nvPr/>
        </p:nvSpPr>
        <p:spPr>
          <a:xfrm>
            <a:off x="2209800" y="16383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Current recruitment processes are often manual and time-consuming, leading to delays in hiring.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 is no</a:t>
            </a:r>
            <a:r>
              <a:rPr lang="en-US" sz="2800" b="1" dirty="0"/>
              <a:t> </a:t>
            </a:r>
            <a:r>
              <a:rPr lang="en-US" sz="2800" dirty="0"/>
              <a:t>centralized platform connecting students, employers, and administrators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Students face difficulty in finding relevant job opportunities and tracking applications.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Employers struggle with managing large volumes of applications and shortlisting candidates.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Lack of real-time updates causes poor communication and transparency in recruitment.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Existing systems provide limited analytics and insights for decision-making.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Security concerns exist due to weak authentication and data handling mechanisms.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 is a need for a secure, automated, and intelligent recruitment system to improve efficiency and user experience.</a:t>
            </a:r>
            <a:endParaRPr lang="en-IN" sz="2800" dirty="0"/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1565FA9D-0A98-9168-B7D0-F788C03F92F3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7D2AAE1E-5F5A-33D1-ED0C-F946F5A9C0B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8BA71ADE-500C-3834-B3D3-46B309627B2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46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develop a centralized </a:t>
            </a:r>
            <a:r>
              <a:rPr lang="en-US" sz="3200" dirty="0" err="1"/>
              <a:t>JobPortal</a:t>
            </a:r>
            <a:r>
              <a:rPr lang="en-US" sz="3200" dirty="0"/>
              <a:t> system that connects students, employers, and administrators on a single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automate the recruitment process, including job posting, application tracking, and candidate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ensure secure and efficient user authentication with role-based access control.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proposed system is a web-based </a:t>
            </a:r>
            <a:r>
              <a:rPr lang="en-US" sz="2800" dirty="0" err="1"/>
              <a:t>JobPortal</a:t>
            </a:r>
            <a:r>
              <a:rPr lang="en-US" sz="2800" dirty="0"/>
              <a:t> platform that automates the entire recruitment process.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It provides a centralized system connecting students, employers, and administrators.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Students can search, apply, and track job applications in real-time.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Employers can post job openings, manage applications, and shortlist candidates efficiently.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Admin manages users, monitors activities, and maintains system control.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The system uses secure authentication (JWT) and database integration for safe data handling.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Features like chatbot support and email/OTP notifications enhance user interaction.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Compared to existing systems, it offers automation, transparency, better communication, and improved efficiency.</a:t>
            </a:r>
            <a:endParaRPr lang="en-IN" sz="28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F283DDE-1616-62AE-4C34-D40B631B4EC7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277AC33-DE92-DEAD-3684-F9E584FE7C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56B25065-0B92-DE42-94C2-2ECB8CBB349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2C6DEA-4EAF-7ED0-557A-D80DA614E890}"/>
              </a:ext>
            </a:extLst>
          </p:cNvPr>
          <p:cNvSpPr txBox="1"/>
          <p:nvPr/>
        </p:nvSpPr>
        <p:spPr>
          <a:xfrm>
            <a:off x="5755558" y="21811"/>
            <a:ext cx="11511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4596E94-381B-18AD-34C6-F755375E9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5"/>
          <a:stretch>
            <a:fillRect/>
          </a:stretch>
        </p:blipFill>
        <p:spPr>
          <a:xfrm>
            <a:off x="4724400" y="1348362"/>
            <a:ext cx="9326255" cy="89386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3190927" y="1593493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9DA430F-87FA-C275-1DC7-50441EF34DDC}"/>
              </a:ext>
            </a:extLst>
          </p:cNvPr>
          <p:cNvSpPr txBox="1"/>
          <p:nvPr/>
        </p:nvSpPr>
        <p:spPr>
          <a:xfrm>
            <a:off x="6319684" y="766605"/>
            <a:ext cx="12639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5244D0-B68C-9BE4-42D9-F93118566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18"/>
          <a:stretch>
            <a:fillRect/>
          </a:stretch>
        </p:blipFill>
        <p:spPr>
          <a:xfrm>
            <a:off x="1828800" y="1409700"/>
            <a:ext cx="14630400" cy="861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Frontend:</a:t>
            </a:r>
            <a:r>
              <a:rPr lang="en-IN" sz="2800" dirty="0"/>
              <a:t> HTML, CSS, JavaScript</a:t>
            </a:r>
          </a:p>
          <a:p>
            <a:endParaRPr lang="en-IN" sz="2800" dirty="0"/>
          </a:p>
          <a:p>
            <a:r>
              <a:rPr lang="en-IN" sz="2800" dirty="0"/>
              <a:t> </a:t>
            </a:r>
            <a:r>
              <a:rPr lang="en-IN" sz="2800" b="1" dirty="0"/>
              <a:t>Backend:</a:t>
            </a:r>
            <a:r>
              <a:rPr lang="en-IN" sz="2800" dirty="0"/>
              <a:t> Spring Boot (Java)</a:t>
            </a:r>
          </a:p>
          <a:p>
            <a:endParaRPr lang="en-IN" sz="2800" dirty="0"/>
          </a:p>
          <a:p>
            <a:r>
              <a:rPr lang="en-IN" sz="2800" dirty="0"/>
              <a:t> </a:t>
            </a:r>
            <a:r>
              <a:rPr lang="en-IN" sz="2800" b="1" dirty="0"/>
              <a:t>Database:</a:t>
            </a:r>
            <a:r>
              <a:rPr lang="en-IN" sz="2800" dirty="0"/>
              <a:t> H2 Database </a:t>
            </a:r>
          </a:p>
          <a:p>
            <a:endParaRPr lang="en-IN" sz="2800" dirty="0"/>
          </a:p>
          <a:p>
            <a:r>
              <a:rPr lang="en-IN" sz="2800" b="1" dirty="0"/>
              <a:t>Third-Party API:</a:t>
            </a:r>
            <a:r>
              <a:rPr lang="en-IN" sz="2800" dirty="0"/>
              <a:t> Email Service (SMTP), Chatbot Integration</a:t>
            </a:r>
          </a:p>
          <a:p>
            <a:endParaRPr lang="en-IN" sz="2800" dirty="0"/>
          </a:p>
          <a:p>
            <a:r>
              <a:rPr lang="en-IN" sz="2800" dirty="0"/>
              <a:t> </a:t>
            </a:r>
            <a:r>
              <a:rPr lang="en-IN" sz="2800" b="1" dirty="0"/>
              <a:t>Tools:</a:t>
            </a:r>
            <a:r>
              <a:rPr lang="en-IN" sz="2800" dirty="0"/>
              <a:t> Git, GitHub, Maven, VS Code / Eclipse</a:t>
            </a:r>
          </a:p>
          <a:p>
            <a:endParaRPr lang="en-IN" sz="2800" dirty="0"/>
          </a:p>
          <a:p>
            <a:r>
              <a:rPr lang="en-IN" sz="2800" dirty="0"/>
              <a:t> </a:t>
            </a:r>
            <a:r>
              <a:rPr lang="en-IN" sz="2800" b="1" dirty="0"/>
              <a:t>Hardware/Software Requirements:</a:t>
            </a:r>
          </a:p>
          <a:p>
            <a:r>
              <a:rPr lang="en-IN" sz="2800" dirty="0"/>
              <a:t>    Java JDK 17 </a:t>
            </a:r>
          </a:p>
          <a:p>
            <a:r>
              <a:rPr lang="en-IN" sz="2800" dirty="0"/>
              <a:t>  Web Browser (Chrome/Edge) </a:t>
            </a:r>
          </a:p>
          <a:p>
            <a:r>
              <a:rPr lang="en-IN" sz="2800" dirty="0"/>
              <a:t>  Minimum 4GB RAM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1: User Management</a:t>
            </a:r>
            <a:br>
              <a:rPr lang="en-US" sz="2800" dirty="0"/>
            </a:br>
            <a:r>
              <a:rPr lang="en-US" sz="2800" dirty="0"/>
              <a:t>Handles user registration, login, and role-based access (Student, Employer, Admin) with secure authentication using JWT and OTP.</a:t>
            </a:r>
          </a:p>
          <a:p>
            <a:endParaRPr lang="en-US" sz="2800" dirty="0"/>
          </a:p>
          <a:p>
            <a:r>
              <a:rPr lang="en-US" sz="2800" b="1" dirty="0"/>
              <a:t>Module 2: Job Management</a:t>
            </a:r>
            <a:br>
              <a:rPr lang="en-US" sz="2800" dirty="0"/>
            </a:br>
            <a:r>
              <a:rPr lang="en-US" sz="2800" dirty="0"/>
              <a:t>Allows employers to create, update, and manage job postings, and enables students to search and view job opportunities.</a:t>
            </a:r>
          </a:p>
          <a:p>
            <a:endParaRPr lang="en-US" sz="2800" dirty="0"/>
          </a:p>
          <a:p>
            <a:r>
              <a:rPr lang="en-US" sz="2800" b="1" dirty="0"/>
              <a:t>Module 3: Application Management</a:t>
            </a:r>
            <a:br>
              <a:rPr lang="en-US" sz="2800" dirty="0"/>
            </a:br>
            <a:r>
              <a:rPr lang="en-US" sz="2800" dirty="0"/>
              <a:t>Manages job applications where students can apply, track status, and employers can shortlist candidates.</a:t>
            </a:r>
          </a:p>
          <a:p>
            <a:endParaRPr lang="en-US" sz="2800" dirty="0"/>
          </a:p>
          <a:p>
            <a:r>
              <a:rPr lang="en-US" sz="2800" b="1" dirty="0"/>
              <a:t>Module 4: Notification &amp; Chatbot Module</a:t>
            </a:r>
            <a:br>
              <a:rPr lang="en-US" sz="2800" dirty="0"/>
            </a:br>
            <a:r>
              <a:rPr lang="en-US" sz="2800" dirty="0"/>
              <a:t>Provides real-time communication through email/OTP notifications and chatbot assistance for user queries.</a:t>
            </a:r>
          </a:p>
          <a:p>
            <a:endParaRPr lang="en-US" sz="2800" dirty="0"/>
          </a:p>
          <a:p>
            <a:r>
              <a:rPr lang="en-US" sz="2800" b="1" dirty="0"/>
              <a:t>Module 5: Dashboard &amp; Analytics</a:t>
            </a:r>
            <a:br>
              <a:rPr lang="en-US" sz="2800" dirty="0"/>
            </a:br>
            <a:r>
              <a:rPr lang="en-US" sz="2800" dirty="0"/>
              <a:t>Displays insights such as application status, job listings, and system activity for better monitoring and decision-making.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7E40F5-6665-6DBA-62D0-778EAF091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294" y="5922193"/>
            <a:ext cx="9662739" cy="41915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A620EC-C2A0-76A7-6B30-DA8C31788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090" y="4914898"/>
            <a:ext cx="5183546" cy="530516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B801C0E-9F15-538C-0F4E-D90F2A79B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2488" y="1120681"/>
            <a:ext cx="5576231" cy="462586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4AC24C1-9139-AB55-12C3-72D9E02E09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3734" y="1072956"/>
            <a:ext cx="8386803" cy="345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1" y="1638300"/>
            <a:ext cx="53040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Displays the </a:t>
            </a:r>
            <a:r>
              <a:rPr lang="en-US" sz="2800" b="1" dirty="0"/>
              <a:t>main landing page of </a:t>
            </a:r>
            <a:r>
              <a:rPr lang="en-US" sz="2800" b="1" dirty="0" err="1"/>
              <a:t>JobPortal</a:t>
            </a:r>
            <a:r>
              <a:rPr lang="en-US" sz="2800" dirty="0"/>
              <a:t> with key features like job search, employer connections, and user navigation options.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Provides an </a:t>
            </a:r>
            <a:r>
              <a:rPr lang="en-US" sz="2800" b="1" dirty="0"/>
              <a:t>intuitive user interface with quick access buttons</a:t>
            </a:r>
            <a:r>
              <a:rPr lang="en-US" sz="2800" dirty="0"/>
              <a:t> for job browsing, posting, and user interaction.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CB98A-0188-C805-F428-5D8AD0949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750" y="5691493"/>
            <a:ext cx="8932970" cy="40604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99577E-25EA-35B9-49C2-F737BA316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751" y="1390050"/>
            <a:ext cx="8932970" cy="419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64133" y="1600443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Admin &amp; 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78EAC9-3291-FE66-297F-E134445E8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2032611"/>
            <a:ext cx="5220429" cy="797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52C58-8480-45AF-A322-6DBD647D1E1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Admin Dashboard 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85295B-1927-1837-1C7F-1B6AAE9D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928" y="2705100"/>
            <a:ext cx="12869550" cy="565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83030-2F2A-8C96-2FEF-10234ABBF003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USER DASHBOARD 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545D40-9D28-5F95-A6D0-0ABC92FEB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60" y="2596446"/>
            <a:ext cx="14269718" cy="635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4B2BB-27EE-9136-DC70-3E3D3A0AB764}"/>
              </a:ext>
            </a:extLst>
          </p:cNvPr>
          <p:cNvSpPr txBox="1"/>
          <p:nvPr/>
        </p:nvSpPr>
        <p:spPr>
          <a:xfrm>
            <a:off x="2209800" y="1406976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/>
              <a:t>Displays </a:t>
            </a:r>
            <a:r>
              <a:rPr lang="en-IN" sz="2800" b="1" dirty="0"/>
              <a:t>OTP-based email verification system</a:t>
            </a:r>
            <a:r>
              <a:rPr lang="en-IN" sz="2800" dirty="0"/>
              <a:t>, ensuring secure user authentication during login/registration.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/>
              <a:t>Shows </a:t>
            </a:r>
            <a:r>
              <a:rPr lang="en-IN" sz="2800" b="1" dirty="0"/>
              <a:t>chatbot (Career Buddy) interface</a:t>
            </a:r>
            <a:r>
              <a:rPr lang="en-IN" sz="2800" dirty="0"/>
              <a:t>, providing instant assistance like job search, application status, and profile updates.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E2A65-8651-F3D4-CEAF-6F5D72B3F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097" y="3578345"/>
            <a:ext cx="4458322" cy="60015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A93088-5D76-0364-1E1A-0B2426AC2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448" y="3675786"/>
            <a:ext cx="9412013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DA9535A-AF12-0C77-A819-68E316B95B0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B3566A7-7E62-ED9D-5F2B-3D6E59417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966596B-4DE4-21F6-F8EB-0B1F9C6C8A9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CC6DFF-6FEB-8F4B-CAF5-E76C7611A2E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3177DF-34AF-881C-BCB8-8B1D28F88137}"/>
              </a:ext>
            </a:extLst>
          </p:cNvPr>
          <p:cNvSpPr txBox="1"/>
          <p:nvPr/>
        </p:nvSpPr>
        <p:spPr>
          <a:xfrm>
            <a:off x="2209800" y="1638300"/>
            <a:ext cx="150823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Database  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Displays </a:t>
            </a:r>
            <a:r>
              <a:rPr lang="en-US" sz="2800" b="1" dirty="0"/>
              <a:t>H2 database tables with stored data</a:t>
            </a:r>
            <a:r>
              <a:rPr lang="en-US" sz="2800" dirty="0"/>
              <a:t> such as users, jobs, and applications, ensuring structured data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Demonstrates </a:t>
            </a:r>
            <a:r>
              <a:rPr lang="en-US" sz="2800" b="1" dirty="0"/>
              <a:t>data storage, retrieval, and integrity</a:t>
            </a:r>
            <a:r>
              <a:rPr lang="en-US" sz="2800" dirty="0"/>
              <a:t>, supporting efficient backend operations of the </a:t>
            </a:r>
            <a:r>
              <a:rPr lang="en-US" sz="2800" dirty="0" err="1"/>
              <a:t>JobPortal</a:t>
            </a:r>
            <a:r>
              <a:rPr lang="en-US" sz="2800" dirty="0"/>
              <a:t> system.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5AE088-0CE2-4179-8BA4-23170E7A9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60" y="5019077"/>
            <a:ext cx="5334744" cy="4363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E27823-8F06-75CD-5D93-564469522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530" y="5034417"/>
            <a:ext cx="9216781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51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F295B9-F227-81EF-DE90-0BCDF7AC44E3}"/>
              </a:ext>
            </a:extLst>
          </p:cNvPr>
          <p:cNvSpPr txBox="1"/>
          <p:nvPr/>
        </p:nvSpPr>
        <p:spPr>
          <a:xfrm>
            <a:off x="2971800" y="2272686"/>
            <a:ext cx="14047838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students, employers, and admin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recruitment process, reducing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effort and time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JWT and OTP verification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job application tracking and updates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experience with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and notifications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uses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 database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suitable for large-scale deployment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web application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mobile app support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functionality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and rule-based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may reduce with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user load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1081</Words>
  <Application>Microsoft Office PowerPoint</Application>
  <PresentationFormat>Custom</PresentationFormat>
  <Paragraphs>373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Times New Roman</vt:lpstr>
      <vt:lpstr>Bookman Old Style</vt:lpstr>
      <vt:lpstr>Calibri</vt:lpstr>
      <vt:lpstr>Gotham</vt:lpstr>
      <vt:lpstr>Gotham Bold Italics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Siva Santhosh</dc:creator>
  <cp:lastModifiedBy>Gowtham pantangi</cp:lastModifiedBy>
  <cp:revision>14</cp:revision>
  <dcterms:created xsi:type="dcterms:W3CDTF">2006-08-16T00:00:00Z</dcterms:created>
  <dcterms:modified xsi:type="dcterms:W3CDTF">2026-05-05T21:13:34Z</dcterms:modified>
  <dc:identifier>DAHCaYqJ9OU</dc:identifier>
</cp:coreProperties>
</file>